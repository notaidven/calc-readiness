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data, loss framing: 56 of every 100 students never finish the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that's where our product wins: engagement. Instead of a lengthy course that loses students, we diagnose exactly what they're missing, teach only those gaps, and keep students engaged with a light gamification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46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63517" y="-2466909"/>
            <a:ext cx="7677051" cy="7677051"/>
          </a:xfrm>
          <a:prstGeom prst="ellipse">
            <a:avLst/>
          </a:prstGeom>
          <a:solidFill>
            <a:srgbClr val="46538A"/>
          </a:solidFill>
          <a:ln/>
        </p:spPr>
      </p:sp>
      <p:sp>
        <p:nvSpPr>
          <p:cNvPr id="3" name="Shape 1"/>
          <p:cNvSpPr/>
          <p:nvPr/>
        </p:nvSpPr>
        <p:spPr>
          <a:xfrm>
            <a:off x="15630426" y="1647693"/>
            <a:ext cx="4114767" cy="4114767"/>
          </a:xfrm>
          <a:prstGeom prst="ellipse">
            <a:avLst/>
          </a:prstGeom>
          <a:solidFill>
            <a:srgbClr val="FF8A6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28568" y="1428750"/>
            <a:ext cx="13342621" cy="221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89"/>
              </a:lnSpc>
              <a:buNone/>
            </a:pPr>
            <a:r>
              <a:rPr lang="en-US" sz="8400" b="1" spc="-75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Calculus-Readiness City-Builder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028568" y="3810000"/>
            <a:ext cx="17355150" cy="88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933"/>
              </a:lnSpc>
              <a:buNone/>
            </a:pPr>
            <a:r>
              <a:rPr lang="en-US" sz="3900" i="1" dirty="0">
                <a:solidFill>
                  <a:srgbClr val="CFD6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remedial math app that sustains engagement from start to finish</a:t>
            </a:r>
            <a:endParaRPr lang="en-US" sz="3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00238" y="5543517"/>
            <a:ext cx="2009676" cy="2009676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19363" y="7648443"/>
            <a:ext cx="771426" cy="57051"/>
          </a:xfrm>
          <a:prstGeom prst="rect">
            <a:avLst/>
          </a:prstGeom>
          <a:solidFill>
            <a:srgbClr val="FF8A66"/>
          </a:solidFill>
          <a:ln/>
        </p:spPr>
      </p:sp>
      <p:sp>
        <p:nvSpPr>
          <p:cNvPr id="8" name="Text 5"/>
          <p:cNvSpPr/>
          <p:nvPr/>
        </p:nvSpPr>
        <p:spPr>
          <a:xfrm>
            <a:off x="2219193" y="8029278"/>
            <a:ext cx="3268762" cy="556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Gabriel Xiong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2077310" y="8700162"/>
            <a:ext cx="3581086" cy="535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C9D1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2029 · UT Austin</a:t>
            </a:r>
            <a:endParaRPr lang="en-US" sz="3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39080" y="5543517"/>
            <a:ext cx="2009676" cy="2009676"/>
          </a:xfrm>
          <a:prstGeom prst="ellipse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758205" y="7648443"/>
            <a:ext cx="771426" cy="57051"/>
          </a:xfrm>
          <a:prstGeom prst="rect">
            <a:avLst/>
          </a:prstGeom>
          <a:solidFill>
            <a:srgbClr val="FF8A66"/>
          </a:solidFill>
          <a:ln/>
        </p:spPr>
      </p:sp>
      <p:sp>
        <p:nvSpPr>
          <p:cNvPr id="12" name="Text 8"/>
          <p:cNvSpPr/>
          <p:nvPr/>
        </p:nvSpPr>
        <p:spPr>
          <a:xfrm>
            <a:off x="7670271" y="8029278"/>
            <a:ext cx="3242022" cy="556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Evan Cabrera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8084675" y="8700162"/>
            <a:ext cx="2330334" cy="535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C9D1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2029 · MIT</a:t>
            </a:r>
            <a:endParaRPr lang="en-US" sz="34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587347" y="5543517"/>
            <a:ext cx="2009676" cy="2009676"/>
          </a:xfrm>
          <a:prstGeom prst="ellipse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4206472" y="7648443"/>
            <a:ext cx="771426" cy="57051"/>
          </a:xfrm>
          <a:prstGeom prst="rect">
            <a:avLst/>
          </a:prstGeom>
          <a:solidFill>
            <a:srgbClr val="FF8A66"/>
          </a:solidFill>
          <a:ln/>
        </p:spPr>
      </p:sp>
      <p:sp>
        <p:nvSpPr>
          <p:cNvPr id="16" name="Text 11"/>
          <p:cNvSpPr/>
          <p:nvPr/>
        </p:nvSpPr>
        <p:spPr>
          <a:xfrm>
            <a:off x="12916463" y="8029278"/>
            <a:ext cx="3686589" cy="556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Anthony Zheng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13532943" y="8700162"/>
            <a:ext cx="2330334" cy="535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C9D1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2028 · MIT</a:t>
            </a:r>
            <a:endParaRPr lang="en-US" sz="3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A46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90534"/>
            <a:ext cx="13620751" cy="859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40"/>
              </a:lnSpc>
              <a:buNone/>
            </a:pPr>
            <a:r>
              <a:rPr lang="en-US" sz="6600" b="1" spc="-75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Retention Problem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238250" y="2857500"/>
            <a:ext cx="6432567" cy="2095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322"/>
              </a:lnSpc>
              <a:buNone/>
            </a:pPr>
            <a:r>
              <a:rPr lang="en-US" sz="22500" b="1" spc="-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1238250" y="5619750"/>
            <a:ext cx="6867526" cy="1226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12"/>
              </a:lnSpc>
              <a:buNone/>
            </a:pPr>
            <a:r>
              <a:rPr lang="en-US" sz="3600" i="1" dirty="0">
                <a:solidFill>
                  <a:srgbClr val="CFD6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developmental-math students never completed the sequence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763250" y="295275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6" name="Shape 4"/>
          <p:cNvSpPr/>
          <p:nvPr/>
        </p:nvSpPr>
        <p:spPr>
          <a:xfrm>
            <a:off x="11410819" y="295275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7" name="Shape 5"/>
          <p:cNvSpPr/>
          <p:nvPr/>
        </p:nvSpPr>
        <p:spPr>
          <a:xfrm>
            <a:off x="12058386" y="295275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8" name="Shape 6"/>
          <p:cNvSpPr/>
          <p:nvPr/>
        </p:nvSpPr>
        <p:spPr>
          <a:xfrm>
            <a:off x="12705954" y="295275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9" name="Shape 7"/>
          <p:cNvSpPr/>
          <p:nvPr/>
        </p:nvSpPr>
        <p:spPr>
          <a:xfrm>
            <a:off x="13353521" y="295275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10" name="Shape 8"/>
          <p:cNvSpPr/>
          <p:nvPr/>
        </p:nvSpPr>
        <p:spPr>
          <a:xfrm>
            <a:off x="14001090" y="295275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11" name="Shape 9"/>
          <p:cNvSpPr/>
          <p:nvPr/>
        </p:nvSpPr>
        <p:spPr>
          <a:xfrm>
            <a:off x="14648657" y="295275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5296224" y="295275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13" name="Shape 11"/>
          <p:cNvSpPr/>
          <p:nvPr/>
        </p:nvSpPr>
        <p:spPr>
          <a:xfrm>
            <a:off x="15943792" y="295275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14" name="Shape 12"/>
          <p:cNvSpPr/>
          <p:nvPr/>
        </p:nvSpPr>
        <p:spPr>
          <a:xfrm>
            <a:off x="16591361" y="295275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63250" y="3467034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10819" y="3467034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58386" y="3467034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18" name="Shape 16"/>
          <p:cNvSpPr/>
          <p:nvPr/>
        </p:nvSpPr>
        <p:spPr>
          <a:xfrm>
            <a:off x="12705954" y="3467034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19" name="Shape 17"/>
          <p:cNvSpPr/>
          <p:nvPr/>
        </p:nvSpPr>
        <p:spPr>
          <a:xfrm>
            <a:off x="13353521" y="3467034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090" y="3467034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21" name="Shape 19"/>
          <p:cNvSpPr/>
          <p:nvPr/>
        </p:nvSpPr>
        <p:spPr>
          <a:xfrm>
            <a:off x="14648657" y="3467034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96224" y="3467034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23" name="Shape 21"/>
          <p:cNvSpPr/>
          <p:nvPr/>
        </p:nvSpPr>
        <p:spPr>
          <a:xfrm>
            <a:off x="15943792" y="3467034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24" name="Shape 22"/>
          <p:cNvSpPr/>
          <p:nvPr/>
        </p:nvSpPr>
        <p:spPr>
          <a:xfrm>
            <a:off x="16591361" y="3467034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63250" y="3981318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10819" y="3981318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58386" y="3981318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28" name="Shape 26"/>
          <p:cNvSpPr/>
          <p:nvPr/>
        </p:nvSpPr>
        <p:spPr>
          <a:xfrm>
            <a:off x="12705954" y="3981318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353521" y="3981318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090" y="3981318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31" name="Shape 29"/>
          <p:cNvSpPr/>
          <p:nvPr/>
        </p:nvSpPr>
        <p:spPr>
          <a:xfrm>
            <a:off x="14648657" y="3981318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32" name="Shape 30"/>
          <p:cNvSpPr/>
          <p:nvPr/>
        </p:nvSpPr>
        <p:spPr>
          <a:xfrm>
            <a:off x="15296224" y="3981318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33" name="Shape 31"/>
          <p:cNvSpPr/>
          <p:nvPr/>
        </p:nvSpPr>
        <p:spPr>
          <a:xfrm>
            <a:off x="15943792" y="3981318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34" name="Shape 32"/>
          <p:cNvSpPr/>
          <p:nvPr/>
        </p:nvSpPr>
        <p:spPr>
          <a:xfrm>
            <a:off x="16591361" y="3981318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763250" y="4495602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10819" y="4495602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58386" y="4495602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38" name="Shape 36"/>
          <p:cNvSpPr/>
          <p:nvPr/>
        </p:nvSpPr>
        <p:spPr>
          <a:xfrm>
            <a:off x="12705954" y="4495602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353521" y="4495602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40" name="Shape 38"/>
          <p:cNvSpPr/>
          <p:nvPr/>
        </p:nvSpPr>
        <p:spPr>
          <a:xfrm>
            <a:off x="14001090" y="4495602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41" name="Shape 39"/>
          <p:cNvSpPr/>
          <p:nvPr/>
        </p:nvSpPr>
        <p:spPr>
          <a:xfrm>
            <a:off x="14648657" y="4495602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42" name="Shape 40"/>
          <p:cNvSpPr/>
          <p:nvPr/>
        </p:nvSpPr>
        <p:spPr>
          <a:xfrm>
            <a:off x="15296224" y="4495602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43" name="Shape 41"/>
          <p:cNvSpPr/>
          <p:nvPr/>
        </p:nvSpPr>
        <p:spPr>
          <a:xfrm>
            <a:off x="15943792" y="4495602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44" name="Shape 42"/>
          <p:cNvSpPr/>
          <p:nvPr/>
        </p:nvSpPr>
        <p:spPr>
          <a:xfrm>
            <a:off x="16591361" y="4495602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45" name="Shape 43"/>
          <p:cNvSpPr/>
          <p:nvPr/>
        </p:nvSpPr>
        <p:spPr>
          <a:xfrm>
            <a:off x="10763250" y="5009885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46" name="Shape 44"/>
          <p:cNvSpPr/>
          <p:nvPr/>
        </p:nvSpPr>
        <p:spPr>
          <a:xfrm>
            <a:off x="11410819" y="5009885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47" name="Shape 45"/>
          <p:cNvSpPr/>
          <p:nvPr/>
        </p:nvSpPr>
        <p:spPr>
          <a:xfrm>
            <a:off x="12058386" y="5009885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48" name="Shape 46"/>
          <p:cNvSpPr/>
          <p:nvPr/>
        </p:nvSpPr>
        <p:spPr>
          <a:xfrm>
            <a:off x="12705954" y="5009885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49" name="Shape 47"/>
          <p:cNvSpPr/>
          <p:nvPr/>
        </p:nvSpPr>
        <p:spPr>
          <a:xfrm>
            <a:off x="13353521" y="5009885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50" name="Shape 48"/>
          <p:cNvSpPr/>
          <p:nvPr/>
        </p:nvSpPr>
        <p:spPr>
          <a:xfrm>
            <a:off x="14001090" y="5009885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51" name="Shape 49"/>
          <p:cNvSpPr/>
          <p:nvPr/>
        </p:nvSpPr>
        <p:spPr>
          <a:xfrm>
            <a:off x="14648657" y="5009885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52" name="Shape 50"/>
          <p:cNvSpPr/>
          <p:nvPr/>
        </p:nvSpPr>
        <p:spPr>
          <a:xfrm>
            <a:off x="15296224" y="5009885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53" name="Shape 51"/>
          <p:cNvSpPr/>
          <p:nvPr/>
        </p:nvSpPr>
        <p:spPr>
          <a:xfrm>
            <a:off x="15943792" y="5009885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54" name="Shape 52"/>
          <p:cNvSpPr/>
          <p:nvPr/>
        </p:nvSpPr>
        <p:spPr>
          <a:xfrm>
            <a:off x="16591361" y="5009885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55" name="Shape 53"/>
          <p:cNvSpPr/>
          <p:nvPr/>
        </p:nvSpPr>
        <p:spPr>
          <a:xfrm>
            <a:off x="10763250" y="552417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56" name="Shape 54"/>
          <p:cNvSpPr/>
          <p:nvPr/>
        </p:nvSpPr>
        <p:spPr>
          <a:xfrm>
            <a:off x="11410819" y="552417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57" name="Shape 55"/>
          <p:cNvSpPr/>
          <p:nvPr/>
        </p:nvSpPr>
        <p:spPr>
          <a:xfrm>
            <a:off x="12058386" y="552417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58" name="Shape 56"/>
          <p:cNvSpPr/>
          <p:nvPr/>
        </p:nvSpPr>
        <p:spPr>
          <a:xfrm>
            <a:off x="12705954" y="552417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59" name="Shape 57"/>
          <p:cNvSpPr/>
          <p:nvPr/>
        </p:nvSpPr>
        <p:spPr>
          <a:xfrm>
            <a:off x="13353521" y="552417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60" name="Shape 58"/>
          <p:cNvSpPr/>
          <p:nvPr/>
        </p:nvSpPr>
        <p:spPr>
          <a:xfrm>
            <a:off x="14001090" y="5524170"/>
            <a:ext cx="285750" cy="285750"/>
          </a:xfrm>
          <a:prstGeom prst="ellipse">
            <a:avLst/>
          </a:prstGeom>
          <a:solidFill>
            <a:srgbClr val="FF8A66"/>
          </a:solidFill>
          <a:ln/>
        </p:spPr>
      </p:sp>
      <p:sp>
        <p:nvSpPr>
          <p:cNvPr id="61" name="Shape 59"/>
          <p:cNvSpPr/>
          <p:nvPr/>
        </p:nvSpPr>
        <p:spPr>
          <a:xfrm>
            <a:off x="14648657" y="5524170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62" name="Shape 60"/>
          <p:cNvSpPr/>
          <p:nvPr/>
        </p:nvSpPr>
        <p:spPr>
          <a:xfrm>
            <a:off x="15296224" y="5524170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63" name="Shape 61"/>
          <p:cNvSpPr/>
          <p:nvPr/>
        </p:nvSpPr>
        <p:spPr>
          <a:xfrm>
            <a:off x="15943792" y="5524170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64" name="Shape 62"/>
          <p:cNvSpPr/>
          <p:nvPr/>
        </p:nvSpPr>
        <p:spPr>
          <a:xfrm>
            <a:off x="16591361" y="5524170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65" name="Shape 63"/>
          <p:cNvSpPr/>
          <p:nvPr/>
        </p:nvSpPr>
        <p:spPr>
          <a:xfrm>
            <a:off x="10763250" y="6038454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66" name="Shape 64"/>
          <p:cNvSpPr/>
          <p:nvPr/>
        </p:nvSpPr>
        <p:spPr>
          <a:xfrm>
            <a:off x="11410819" y="6038454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67" name="Shape 65"/>
          <p:cNvSpPr/>
          <p:nvPr/>
        </p:nvSpPr>
        <p:spPr>
          <a:xfrm>
            <a:off x="12058386" y="6038454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68" name="Shape 66"/>
          <p:cNvSpPr/>
          <p:nvPr/>
        </p:nvSpPr>
        <p:spPr>
          <a:xfrm>
            <a:off x="12705954" y="6038454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69" name="Shape 67"/>
          <p:cNvSpPr/>
          <p:nvPr/>
        </p:nvSpPr>
        <p:spPr>
          <a:xfrm>
            <a:off x="13353521" y="6038454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70" name="Shape 68"/>
          <p:cNvSpPr/>
          <p:nvPr/>
        </p:nvSpPr>
        <p:spPr>
          <a:xfrm>
            <a:off x="14001090" y="6038454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71" name="Shape 69"/>
          <p:cNvSpPr/>
          <p:nvPr/>
        </p:nvSpPr>
        <p:spPr>
          <a:xfrm>
            <a:off x="14648657" y="6038454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72" name="Shape 70"/>
          <p:cNvSpPr/>
          <p:nvPr/>
        </p:nvSpPr>
        <p:spPr>
          <a:xfrm>
            <a:off x="15296224" y="6038454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73" name="Shape 71"/>
          <p:cNvSpPr/>
          <p:nvPr/>
        </p:nvSpPr>
        <p:spPr>
          <a:xfrm>
            <a:off x="15943792" y="6038454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74" name="Shape 72"/>
          <p:cNvSpPr/>
          <p:nvPr/>
        </p:nvSpPr>
        <p:spPr>
          <a:xfrm>
            <a:off x="16591361" y="6038454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75" name="Shape 73"/>
          <p:cNvSpPr/>
          <p:nvPr/>
        </p:nvSpPr>
        <p:spPr>
          <a:xfrm>
            <a:off x="10763250" y="6552737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76" name="Shape 74"/>
          <p:cNvSpPr/>
          <p:nvPr/>
        </p:nvSpPr>
        <p:spPr>
          <a:xfrm>
            <a:off x="11410819" y="6552737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77" name="Shape 75"/>
          <p:cNvSpPr/>
          <p:nvPr/>
        </p:nvSpPr>
        <p:spPr>
          <a:xfrm>
            <a:off x="12058386" y="6552737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78" name="Shape 76"/>
          <p:cNvSpPr/>
          <p:nvPr/>
        </p:nvSpPr>
        <p:spPr>
          <a:xfrm>
            <a:off x="12705954" y="6552737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79" name="Shape 77"/>
          <p:cNvSpPr/>
          <p:nvPr/>
        </p:nvSpPr>
        <p:spPr>
          <a:xfrm>
            <a:off x="13353521" y="6552737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80" name="Shape 78"/>
          <p:cNvSpPr/>
          <p:nvPr/>
        </p:nvSpPr>
        <p:spPr>
          <a:xfrm>
            <a:off x="14001090" y="6552737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81" name="Shape 79"/>
          <p:cNvSpPr/>
          <p:nvPr/>
        </p:nvSpPr>
        <p:spPr>
          <a:xfrm>
            <a:off x="14648657" y="6552737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82" name="Shape 80"/>
          <p:cNvSpPr/>
          <p:nvPr/>
        </p:nvSpPr>
        <p:spPr>
          <a:xfrm>
            <a:off x="15296224" y="6552737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83" name="Shape 81"/>
          <p:cNvSpPr/>
          <p:nvPr/>
        </p:nvSpPr>
        <p:spPr>
          <a:xfrm>
            <a:off x="15943792" y="6552737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84" name="Shape 82"/>
          <p:cNvSpPr/>
          <p:nvPr/>
        </p:nvSpPr>
        <p:spPr>
          <a:xfrm>
            <a:off x="16591361" y="6552737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85" name="Shape 83"/>
          <p:cNvSpPr/>
          <p:nvPr/>
        </p:nvSpPr>
        <p:spPr>
          <a:xfrm>
            <a:off x="10763250" y="7067021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86" name="Shape 84"/>
          <p:cNvSpPr/>
          <p:nvPr/>
        </p:nvSpPr>
        <p:spPr>
          <a:xfrm>
            <a:off x="11410819" y="7067021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87" name="Shape 85"/>
          <p:cNvSpPr/>
          <p:nvPr/>
        </p:nvSpPr>
        <p:spPr>
          <a:xfrm>
            <a:off x="12058386" y="7067021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88" name="Shape 86"/>
          <p:cNvSpPr/>
          <p:nvPr/>
        </p:nvSpPr>
        <p:spPr>
          <a:xfrm>
            <a:off x="12705954" y="7067021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89" name="Shape 87"/>
          <p:cNvSpPr/>
          <p:nvPr/>
        </p:nvSpPr>
        <p:spPr>
          <a:xfrm>
            <a:off x="13353521" y="7067021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90" name="Shape 88"/>
          <p:cNvSpPr/>
          <p:nvPr/>
        </p:nvSpPr>
        <p:spPr>
          <a:xfrm>
            <a:off x="14001090" y="7067021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91" name="Shape 89"/>
          <p:cNvSpPr/>
          <p:nvPr/>
        </p:nvSpPr>
        <p:spPr>
          <a:xfrm>
            <a:off x="14648657" y="7067021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92" name="Shape 90"/>
          <p:cNvSpPr/>
          <p:nvPr/>
        </p:nvSpPr>
        <p:spPr>
          <a:xfrm>
            <a:off x="15296224" y="7067021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93" name="Shape 91"/>
          <p:cNvSpPr/>
          <p:nvPr/>
        </p:nvSpPr>
        <p:spPr>
          <a:xfrm>
            <a:off x="15943792" y="7067021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94" name="Shape 92"/>
          <p:cNvSpPr/>
          <p:nvPr/>
        </p:nvSpPr>
        <p:spPr>
          <a:xfrm>
            <a:off x="16591361" y="7067021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95" name="Shape 93"/>
          <p:cNvSpPr/>
          <p:nvPr/>
        </p:nvSpPr>
        <p:spPr>
          <a:xfrm>
            <a:off x="10763250" y="7581305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96" name="Shape 94"/>
          <p:cNvSpPr/>
          <p:nvPr/>
        </p:nvSpPr>
        <p:spPr>
          <a:xfrm>
            <a:off x="11410819" y="7581305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97" name="Shape 95"/>
          <p:cNvSpPr/>
          <p:nvPr/>
        </p:nvSpPr>
        <p:spPr>
          <a:xfrm>
            <a:off x="12058386" y="7581305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98" name="Shape 96"/>
          <p:cNvSpPr/>
          <p:nvPr/>
        </p:nvSpPr>
        <p:spPr>
          <a:xfrm>
            <a:off x="12705954" y="7581305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99" name="Shape 97"/>
          <p:cNvSpPr/>
          <p:nvPr/>
        </p:nvSpPr>
        <p:spPr>
          <a:xfrm>
            <a:off x="13353521" y="7581305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100" name="Shape 98"/>
          <p:cNvSpPr/>
          <p:nvPr/>
        </p:nvSpPr>
        <p:spPr>
          <a:xfrm>
            <a:off x="14001090" y="7581305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101" name="Shape 99"/>
          <p:cNvSpPr/>
          <p:nvPr/>
        </p:nvSpPr>
        <p:spPr>
          <a:xfrm>
            <a:off x="14648657" y="7581305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5296224" y="7581305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5943792" y="7581305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6591361" y="7581305"/>
            <a:ext cx="285750" cy="285750"/>
          </a:xfrm>
          <a:prstGeom prst="ellipse">
            <a:avLst/>
          </a:prstGeom>
          <a:solidFill>
            <a:srgbClr val="5C6899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238250" y="8734392"/>
            <a:ext cx="15811501" cy="19017"/>
          </a:xfrm>
          <a:prstGeom prst="rect">
            <a:avLst/>
          </a:prstGeom>
          <a:solidFill>
            <a:srgbClr val="5C6899"/>
          </a:solidFill>
          <a:ln/>
        </p:spPr>
      </p:sp>
      <p:sp>
        <p:nvSpPr>
          <p:cNvPr id="106" name="Text 104"/>
          <p:cNvSpPr/>
          <p:nvPr/>
        </p:nvSpPr>
        <p:spPr>
          <a:xfrm>
            <a:off x="1238250" y="8991534"/>
            <a:ext cx="1791652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6BF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Source: PPIC, 2016 — California Community Colleges, 200K+ developmental-math students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46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859001" y="-1714500"/>
            <a:ext cx="6286501" cy="6286501"/>
          </a:xfrm>
          <a:prstGeom prst="ellipse">
            <a:avLst/>
          </a:prstGeom>
          <a:solidFill>
            <a:srgbClr val="46538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990534"/>
            <a:ext cx="15716251" cy="859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40"/>
              </a:lnSpc>
              <a:buNone/>
            </a:pPr>
            <a:r>
              <a:rPr lang="en-US" sz="6600" b="1" spc="-75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38250" y="2548434"/>
            <a:ext cx="10287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8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686017" y="2495517"/>
            <a:ext cx="7790640" cy="762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2686017" y="3390801"/>
            <a:ext cx="779064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FD6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Find each student's missing prerequisites.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4497752"/>
            <a:ext cx="10287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8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86017" y="4444835"/>
            <a:ext cx="6593731" cy="762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2686017" y="5340119"/>
            <a:ext cx="6593731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FD6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Cover those gaps and nothing else.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38250" y="6447069"/>
            <a:ext cx="10287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8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686017" y="6394153"/>
            <a:ext cx="8386730" cy="762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 engagement</a:t>
            </a:r>
            <a:endParaRPr lang="en-US" sz="5700" dirty="0"/>
          </a:p>
        </p:txBody>
      </p:sp>
      <p:sp>
        <p:nvSpPr>
          <p:cNvPr id="12" name="Text 10"/>
          <p:cNvSpPr/>
          <p:nvPr/>
        </p:nvSpPr>
        <p:spPr>
          <a:xfrm>
            <a:off x="2686017" y="7289436"/>
            <a:ext cx="838673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FD6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Give students a reason to keep coming back.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46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92160" y="5353017"/>
            <a:ext cx="6314943" cy="6314943"/>
          </a:xfrm>
          <a:prstGeom prst="ellipse">
            <a:avLst/>
          </a:prstGeom>
          <a:solidFill>
            <a:srgbClr val="FF8A66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04818" y="4191000"/>
            <a:ext cx="13096875" cy="120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61"/>
              </a:lnSpc>
              <a:buNone/>
            </a:pPr>
            <a:r>
              <a:rPr lang="en-US" sz="9000" b="1" spc="-75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504818" y="5810250"/>
            <a:ext cx="14668501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i="1" dirty="0">
                <a:solidFill>
                  <a:srgbClr val="CFD6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Diagnose → Learn → Practice → Advance</a:t>
            </a:r>
            <a:endParaRPr lang="en-US" sz="4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2026-08-12T23:18:04Z</dcterms:created>
  <dcterms:modified xsi:type="dcterms:W3CDTF">2026-08-12T23:18:04Z</dcterms:modified>
</cp:coreProperties>
</file>